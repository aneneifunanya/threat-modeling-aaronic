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BDECE-543F-49DC-81DA-5DD258B0687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8BC4E-1D4A-42E6-9664-405CA03D1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2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B8BC4E-1D4A-42E6-9664-405CA03D1B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2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8056-2106-2191-C21E-79A2B6F0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AF854-FB42-B27C-D08A-B97E3E30E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5E00-63DC-092A-0B2C-D244A382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22976-0286-5806-60A0-6FEDD05A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72723-760B-E30F-B60F-09EC0686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8379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FC5A-8A70-3B3D-3620-C6519692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F14A-D1C5-D8C2-5EF8-7C329C73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092AA-2AAE-35DA-B70B-CF748BAA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7E7DC-4639-7932-FAA7-97F18DE7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E7F0-2F9E-2BE3-3164-37FCCAC9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0514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89E4-D7FC-7A4D-76F0-F51B409E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71B53-B8FD-6300-67DD-55387FC7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74912-330C-046D-978B-7145ACCC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6E658-C3CB-D75E-F7C8-FEE934EE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C32CE-1AB3-5255-479F-0DAEEF3E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031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621D-A9E6-5255-CC0A-0DC92A89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D5AB-9312-806E-2265-6A2E3E753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E60FB-C8C5-156C-459D-1D9200086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B3419-D9CA-AE6B-B72E-41A9280A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413B5-EB21-343F-DFD5-EA79B9A8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B8298-58FD-A64A-BD3C-8E3FE7D9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078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F142-C506-72A8-D74A-F7888A74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FA0EB-A48B-D274-C58B-C930E3884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D5845-1FDA-1534-0AC9-DB517FA12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DABF0-7534-1CB8-3C62-6AF3199C9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BEF12-2F9B-1E7E-7275-B85223EE5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E0EE1-3C5B-A087-6E57-976C5997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705F0-45E2-91D2-0FC5-A3E4C3B2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2BAE2-E421-CEDE-D5E6-9A158630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6810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39A9-D95B-E424-7E61-D5DCAD1F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8C4A6-C892-619E-8CA2-572211FE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19868-B5F3-4EA7-B250-B47C7257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9D12A-05EA-B965-5996-306283F1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4498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F6BBE-829A-2E33-8FC1-C6423392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04C45-44BD-D3AE-B072-455C27A8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E8076-D8C4-7A54-BB2E-52A870ED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4126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1A26-E9AF-BBB0-800B-0388A02F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06026-492B-7BC9-B2EB-207EFA59C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BE8A8-30A6-8AB3-90C4-ED27616AA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2228B-BF58-D525-29E0-E0E2E14B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41746-1C76-4D21-F301-06F4101D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176B8-C4EC-60DD-BCF5-116DDBAF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9830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2832-8E72-4519-2556-8FF5902C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C2701-7897-C58B-75B7-14813499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641BF-910B-9EDB-FBFC-8F3ABD2E7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6CC5E-D854-7350-75BE-BC40B365E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5EC2F-2013-1A6F-4495-452C68FD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55D64-E5E7-F99A-FAB3-8223C78F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9326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46DB-8890-FE58-6CB1-047A53E7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47B4A-7B76-7798-67F1-EA3719118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46A82-285C-BD9C-C3F2-8B2FFF1A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22AB0-BF1D-C47E-A4D0-C27D1DEB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E459A-7178-6F3F-FD2B-8C746974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2364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86B076-F1E2-C9D5-DFE3-2D6648628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7725C-E654-229B-DF86-7265D81D5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DCE77-3685-32FF-2601-462022BB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70B1A-6BAC-E571-3A07-556DB330A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89ADF-C778-4411-B732-A99C4C47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235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BC0D3A-117B-9B8C-0062-9BBB727BC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D0759-220E-CBFE-A519-330D98391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4BC5-59A0-482B-64AD-7A50209B5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7903-0896-42CA-ACB3-6079790E8C4E}" type="datetimeFigureOut">
              <a:rPr lang="en-NG" smtClean="0"/>
              <a:t>06/04/2026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1630-55B3-C726-6CA8-6E0229128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72DD9-EB0C-4484-D983-00B2D4B10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8A8A3-168D-4EDF-8905-D018399DD6C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1180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A31F-A8FC-02BC-C3DF-41D7E2887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000"/>
            <a:ext cx="9144000" cy="5619749"/>
          </a:xfrm>
        </p:spPr>
        <p:txBody>
          <a:bodyPr/>
          <a:lstStyle/>
          <a:p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Aaronic (oil and Energy)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Website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en-US" sz="2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STRIDE </a:t>
            </a:r>
            <a: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28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ANENE JENNIFER IFUNANYA</a:t>
            </a:r>
            <a:r>
              <a:rPr lang="en-US" sz="28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SECURITY TEAM OF 7 MEMBERS</a:t>
            </a:r>
            <a:br>
              <a:rPr lang="en-US" sz="2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72253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EED7-BB07-6FC8-32A0-336FEF684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N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A7AF-781D-EB16-C41C-61BE7A2F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87" y="2425700"/>
            <a:ext cx="10515600" cy="110331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report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Aaronic (Oil and energy)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website,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outlining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 risks, vulnerabilities, and mitigation strategies to enhance its security posture.</a:t>
            </a:r>
            <a:endParaRPr lang="en-N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04971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388A-35B7-AA8C-A204-13376E1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015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NG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2A52B-6E7C-6CEF-AC52-D07C50435613}"/>
              </a:ext>
            </a:extLst>
          </p:cNvPr>
          <p:cNvSpPr txBox="1"/>
          <p:nvPr/>
        </p:nvSpPr>
        <p:spPr>
          <a:xfrm>
            <a:off x="342900" y="1120140"/>
            <a:ext cx="914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Potential threats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Application 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Classify Assets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Vulnerabilities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threats and Risk levels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Mitigation strategies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overall security postures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85875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CE49-B552-E04D-CFF5-3E633196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Assets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6DEA8-E609-F2DE-56AE-F780052A71BE}"/>
              </a:ext>
            </a:extLst>
          </p:cNvPr>
          <p:cNvSpPr txBox="1"/>
          <p:nvPr/>
        </p:nvSpPr>
        <p:spPr>
          <a:xfrm>
            <a:off x="1042989" y="1828800"/>
            <a:ext cx="587216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User</a:t>
            </a:r>
            <a:r>
              <a:rPr lang="en-US" sz="28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Data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: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vendor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information,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login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credentials for databases.</a:t>
            </a:r>
          </a:p>
          <a:p>
            <a:pPr marL="742950" lvl="1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Product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Data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: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Product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details,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prices,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inventory.</a:t>
            </a:r>
          </a:p>
          <a:p>
            <a:pPr marL="742950" lvl="1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Website</a:t>
            </a:r>
            <a:r>
              <a:rPr lang="en-US" sz="2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b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Availability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: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Ensuring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the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website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remains operational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 </a:t>
            </a:r>
            <a:r>
              <a:rPr lang="en-US" sz="2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and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Symbol" panose="05050102010706020507" pitchFamily="18" charset="2"/>
              </a:rPr>
              <a:t>accessible.</a:t>
            </a:r>
            <a:endParaRPr lang="en-NG" sz="28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60964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828E-9E3C-E512-F38E-4C3F044E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Flow Diagram</a:t>
            </a:r>
            <a:endParaRPr lang="en-NG" dirty="0"/>
          </a:p>
        </p:txBody>
      </p:sp>
      <p:pic>
        <p:nvPicPr>
          <p:cNvPr id="6" name="Image6">
            <a:extLst>
              <a:ext uri="{FF2B5EF4-FFF2-40B4-BE49-F238E27FC236}">
                <a16:creationId xmlns:a16="http://schemas.microsoft.com/office/drawing/2014/main" id="{67421F05-F3DB-AED6-7D6B-2E5A3F96A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690688"/>
            <a:ext cx="10515600" cy="43214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555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A09E-E966-15D4-89E4-7034DEF2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Identified Threats</a:t>
            </a:r>
            <a:endParaRPr lang="en-NG" dirty="0"/>
          </a:p>
        </p:txBody>
      </p:sp>
      <p:pic>
        <p:nvPicPr>
          <p:cNvPr id="3" name="Image 1">
            <a:extLst>
              <a:ext uri="{FF2B5EF4-FFF2-40B4-BE49-F238E27FC236}">
                <a16:creationId xmlns:a16="http://schemas.microsoft.com/office/drawing/2014/main" id="{EAA456A5-9B20-AF54-BA68-DAB4EC04A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5888" y="1611629"/>
            <a:ext cx="8829675" cy="44319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132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7F9E-6639-1B13-4586-87FFABAB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Identified Vulnerabilities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4A2E-DE81-185B-159E-B5DE8711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 policies allow brute-force attacks.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HTTPS encryption exposes data in transit.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input validation enables SQL Injection attacks.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access controls may allow unauthorized database access.</a:t>
            </a:r>
          </a:p>
          <a:p>
            <a:pPr marL="0" indent="0">
              <a:buNone/>
            </a:pP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D2F4-7FB7-77EE-486E-DD9FAA89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6355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Risk Evaluation</a:t>
            </a:r>
            <a:endParaRPr lang="en-NG" dirty="0"/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id="{1318B16E-13DE-E9CD-076A-5D0AD0D0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34415" y="3429000"/>
            <a:ext cx="8938260" cy="317182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531D01-224A-5E91-4A5E-4C40B88234BC}"/>
              </a:ext>
            </a:extLst>
          </p:cNvPr>
          <p:cNvSpPr txBox="1"/>
          <p:nvPr/>
        </p:nvSpPr>
        <p:spPr>
          <a:xfrm>
            <a:off x="1034415" y="449263"/>
            <a:ext cx="98526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Risk Evaluation Matrix assesses cybersecurity threats based on their likelihood, impact, and overall risk level.	</a:t>
            </a:r>
          </a:p>
          <a:p>
            <a:pPr algn="just"/>
            <a:r>
              <a:rPr lang="en-US" b="1" dirty="0"/>
              <a:t>Credential theft </a:t>
            </a:r>
            <a:r>
              <a:rPr lang="en-US" dirty="0"/>
              <a:t>is the most critical threat due to its high likelihood and high impact.</a:t>
            </a:r>
          </a:p>
          <a:p>
            <a:pPr algn="just"/>
            <a:r>
              <a:rPr lang="en-US" b="1" dirty="0"/>
              <a:t>Unauthorized access </a:t>
            </a:r>
            <a:r>
              <a:rPr lang="en-US" dirty="0"/>
              <a:t>has a low likelihood but a critical impact, making it a high-risk concern.	</a:t>
            </a:r>
          </a:p>
          <a:p>
            <a:pPr algn="just"/>
            <a:r>
              <a:rPr lang="en-US" b="1" dirty="0"/>
              <a:t>Denial of Service (DoS) and Data tampering </a:t>
            </a:r>
            <a:r>
              <a:rPr lang="en-US" dirty="0"/>
              <a:t>are both medium-likelihood, high-impact threats, ranking as high risks.	</a:t>
            </a:r>
          </a:p>
          <a:p>
            <a:pPr algn="just"/>
            <a:r>
              <a:rPr lang="en-US" b="1" dirty="0"/>
              <a:t>Data leakage </a:t>
            </a:r>
            <a:r>
              <a:rPr lang="en-US" dirty="0"/>
              <a:t>is a lower-priority risk with low likelihood and medium impact.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Overall, credential theft and unauthorized access pose the most significant risks, requiring strong mitigation strategies.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25992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064-E124-58EE-FDFA-71A3435FE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Attack Tree</a:t>
            </a:r>
            <a:endParaRPr lang="en-NG" dirty="0"/>
          </a:p>
        </p:txBody>
      </p:sp>
      <p:pic>
        <p:nvPicPr>
          <p:cNvPr id="6" name="Image7">
            <a:extLst>
              <a:ext uri="{FF2B5EF4-FFF2-40B4-BE49-F238E27FC236}">
                <a16:creationId xmlns:a16="http://schemas.microsoft.com/office/drawing/2014/main" id="{F37D6E88-1D24-1B39-37BB-ED73DD6CB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690688"/>
            <a:ext cx="10515600" cy="45500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152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3180-FE90-86BA-CEF1-3C6755B7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Mitigation Strategies</a:t>
            </a:r>
            <a:endParaRPr lang="en-NG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D8C347B-7A08-05D8-A60C-7A8B6E05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985962"/>
            <a:ext cx="10515600" cy="41633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307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6513D-3435-AB56-B2A9-87ED886C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N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15842-5139-EDA6-5AE6-2F6DB546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721995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in-depth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facing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Aaronic (Oil and Energy)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website and proposes actionable mitigation strategies. Regular security audits, penetration testing, and continuous monitoring should be implemented to ensure the website remains protected against emerging threats.</a:t>
            </a:r>
            <a:endParaRPr lang="en-NG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85580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331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Threat Model For Aaronic (oil and Energy) Website Using STRIDE analysis    BY:  ANENE JENNIFER IFUNANYA AND SECURITY TEAM OF 7 MEMBERS    </vt:lpstr>
      <vt:lpstr>INTRODUCTION</vt:lpstr>
      <vt:lpstr>OBJECTIVES</vt:lpstr>
      <vt:lpstr>Identified Assets</vt:lpstr>
      <vt:lpstr>Data Flow Diagram</vt:lpstr>
      <vt:lpstr>Identified Threats</vt:lpstr>
      <vt:lpstr>Identified Vulnerabilities</vt:lpstr>
      <vt:lpstr>Risk Evaluation</vt:lpstr>
      <vt:lpstr>Attack Tree</vt:lpstr>
      <vt:lpstr>Mitigation Strategies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Marley</dc:creator>
  <cp:lastModifiedBy>ifunanya Anthony</cp:lastModifiedBy>
  <cp:revision>4</cp:revision>
  <dcterms:created xsi:type="dcterms:W3CDTF">2025-03-04T12:44:06Z</dcterms:created>
  <dcterms:modified xsi:type="dcterms:W3CDTF">2026-06-04T14:19:05Z</dcterms:modified>
</cp:coreProperties>
</file>