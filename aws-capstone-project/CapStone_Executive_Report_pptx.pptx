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753600" cy="7315200"/>
  <p:notesSz cx="6858000" cy="9144000"/>
  <p:embeddedFontLst>
    <p:embeddedFont>
      <p:font typeface="Raleway Bold" charset="1" panose="00000000000000000000"/>
      <p:regular r:id="rId13"/>
    </p:embeddedFon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520" y="731520"/>
            <a:ext cx="818282" cy="818282"/>
          </a:xfrm>
          <a:custGeom>
            <a:avLst/>
            <a:gdLst/>
            <a:ahLst/>
            <a:cxnLst/>
            <a:rect r="r" b="b" t="t" l="l"/>
            <a:pathLst>
              <a:path h="818282" w="818282">
                <a:moveTo>
                  <a:pt x="0" y="0"/>
                </a:moveTo>
                <a:lnTo>
                  <a:pt x="818282" y="0"/>
                </a:lnTo>
                <a:lnTo>
                  <a:pt x="818282" y="818282"/>
                </a:lnTo>
                <a:lnTo>
                  <a:pt x="0" y="818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1520" y="5140507"/>
            <a:ext cx="3268597" cy="771461"/>
            <a:chOff x="0" y="0"/>
            <a:chExt cx="1210592" cy="2857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0592" cy="285726"/>
            </a:xfrm>
            <a:custGeom>
              <a:avLst/>
              <a:gdLst/>
              <a:ahLst/>
              <a:cxnLst/>
              <a:rect r="r" b="b" t="t" l="l"/>
              <a:pathLst>
                <a:path h="285726" w="1210592">
                  <a:moveTo>
                    <a:pt x="142863" y="0"/>
                  </a:moveTo>
                  <a:lnTo>
                    <a:pt x="1067728" y="0"/>
                  </a:lnTo>
                  <a:cubicBezTo>
                    <a:pt x="1146630" y="0"/>
                    <a:pt x="1210592" y="63962"/>
                    <a:pt x="1210592" y="142863"/>
                  </a:cubicBezTo>
                  <a:lnTo>
                    <a:pt x="1210592" y="142863"/>
                  </a:lnTo>
                  <a:cubicBezTo>
                    <a:pt x="1210592" y="180753"/>
                    <a:pt x="1195540" y="217091"/>
                    <a:pt x="1168748" y="243883"/>
                  </a:cubicBezTo>
                  <a:cubicBezTo>
                    <a:pt x="1141956" y="270675"/>
                    <a:pt x="1105618" y="285726"/>
                    <a:pt x="1067728" y="285726"/>
                  </a:cubicBezTo>
                  <a:lnTo>
                    <a:pt x="142863" y="285726"/>
                  </a:lnTo>
                  <a:cubicBezTo>
                    <a:pt x="104973" y="285726"/>
                    <a:pt x="68636" y="270675"/>
                    <a:pt x="41844" y="243883"/>
                  </a:cubicBezTo>
                  <a:cubicBezTo>
                    <a:pt x="15052" y="217091"/>
                    <a:pt x="0" y="180753"/>
                    <a:pt x="0" y="142863"/>
                  </a:cubicBezTo>
                  <a:lnTo>
                    <a:pt x="0" y="142863"/>
                  </a:lnTo>
                  <a:cubicBezTo>
                    <a:pt x="0" y="104973"/>
                    <a:pt x="15052" y="68636"/>
                    <a:pt x="41844" y="41844"/>
                  </a:cubicBezTo>
                  <a:cubicBezTo>
                    <a:pt x="68636" y="15052"/>
                    <a:pt x="104973" y="0"/>
                    <a:pt x="142863" y="0"/>
                  </a:cubicBez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10592" cy="314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076726" y="0"/>
            <a:ext cx="3676874" cy="7315200"/>
          </a:xfrm>
          <a:custGeom>
            <a:avLst/>
            <a:gdLst/>
            <a:ahLst/>
            <a:cxnLst/>
            <a:rect r="r" b="b" t="t" l="l"/>
            <a:pathLst>
              <a:path h="7315200" w="3676874">
                <a:moveTo>
                  <a:pt x="0" y="0"/>
                </a:moveTo>
                <a:lnTo>
                  <a:pt x="3676874" y="0"/>
                </a:lnTo>
                <a:lnTo>
                  <a:pt x="3676874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825" t="-7642" r="-130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3253" y="2431666"/>
            <a:ext cx="5290911" cy="1950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8"/>
              </a:lnSpc>
            </a:pPr>
            <a:r>
              <a:rPr lang="en-US" b="true" sz="7428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EXECUTIVEREPORT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6720" y="829077"/>
            <a:ext cx="284302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created by Anene Ifunanya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9303" y="5280493"/>
            <a:ext cx="32008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April 22,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3253" y="4660355"/>
            <a:ext cx="5207629" cy="104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258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CAPSTONE PROJECT – GRC208</a:t>
            </a:r>
          </a:p>
          <a:p>
            <a:pPr algn="l">
              <a:lnSpc>
                <a:spcPts val="3989"/>
              </a:lnSpc>
            </a:pPr>
          </a:p>
          <a:p>
            <a:pPr algn="l">
              <a:lnSpc>
                <a:spcPts val="168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3324" y="788670"/>
            <a:ext cx="6771394" cy="997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808" b="true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 AND OBJECTIVE</a:t>
            </a:r>
          </a:p>
          <a:p>
            <a:pPr algn="l">
              <a:lnSpc>
                <a:spcPts val="380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000032" y="1728856"/>
            <a:ext cx="3635045" cy="366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4595C2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Build an automated GRC platform on AWS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Enable continuous compliance monitoring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Improve visibility and audit readiness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9258442" y="0"/>
            <a:ext cx="495158" cy="2515527"/>
            <a:chOff x="0" y="0"/>
            <a:chExt cx="183392" cy="9316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392" cy="931677"/>
            </a:xfrm>
            <a:custGeom>
              <a:avLst/>
              <a:gdLst/>
              <a:ahLst/>
              <a:cxnLst/>
              <a:rect r="r" b="b" t="t" l="l"/>
              <a:pathLst>
                <a:path h="931677" w="183392">
                  <a:moveTo>
                    <a:pt x="0" y="0"/>
                  </a:moveTo>
                  <a:lnTo>
                    <a:pt x="183392" y="0"/>
                  </a:lnTo>
                  <a:lnTo>
                    <a:pt x="183392" y="931677"/>
                  </a:lnTo>
                  <a:lnTo>
                    <a:pt x="0" y="931677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3392" cy="960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63324" y="1728856"/>
            <a:ext cx="3635045" cy="439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4595C2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Traditional compliance is manual and slow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Cloud environments change rapidly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Leads to compliance gaps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31788" y="5334387"/>
            <a:ext cx="2648486" cy="18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4595C2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Compliance</a:t>
            </a:r>
          </a:p>
          <a:p>
            <a:pPr algn="l">
              <a:lnSpc>
                <a:spcPts val="1590"/>
              </a:lnSpc>
            </a:pPr>
          </a:p>
          <a:p>
            <a:pPr algn="l">
              <a:lnSpc>
                <a:spcPts val="2627"/>
              </a:lnSpc>
            </a:pPr>
            <a:r>
              <a:rPr lang="en-US" sz="1876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876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eriodic Checks</a:t>
            </a:r>
          </a:p>
          <a:p>
            <a:pPr algn="l">
              <a:lnSpc>
                <a:spcPts val="2627"/>
              </a:lnSpc>
            </a:pPr>
            <a:r>
              <a:rPr lang="en-US" sz="1876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Delayed detection</a:t>
            </a:r>
          </a:p>
          <a:p>
            <a:pPr algn="l">
              <a:lnSpc>
                <a:spcPts val="2627"/>
              </a:lnSpc>
            </a:pPr>
            <a:r>
              <a:rPr lang="en-US" sz="1876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Human error risk</a:t>
            </a:r>
          </a:p>
          <a:p>
            <a:pPr algn="l">
              <a:lnSpc>
                <a:spcPts val="248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570472" y="5334387"/>
            <a:ext cx="4381642" cy="28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4595C2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Automated GRC Platform</a:t>
            </a:r>
          </a:p>
          <a:p>
            <a:pPr algn="l">
              <a:lnSpc>
                <a:spcPts val="2625"/>
              </a:lnSpc>
            </a:pPr>
          </a:p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Continuous monitoring</a:t>
            </a:r>
          </a:p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Real-time alerts</a:t>
            </a:r>
          </a:p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Consistent enforcement</a:t>
            </a:r>
          </a:p>
          <a:p>
            <a:pPr algn="l">
              <a:lnSpc>
                <a:spcPts val="2625"/>
              </a:lnSpc>
            </a:pPr>
          </a:p>
          <a:p>
            <a:pPr algn="l">
              <a:lnSpc>
                <a:spcPts val="2625"/>
              </a:lnSpc>
            </a:pPr>
          </a:p>
          <a:p>
            <a:pPr algn="l">
              <a:lnSpc>
                <a:spcPts val="1590"/>
              </a:lnSpc>
            </a:pPr>
          </a:p>
          <a:p>
            <a:pPr algn="l">
              <a:lnSpc>
                <a:spcPts val="248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731520"/>
            <a:ext cx="376683" cy="2926080"/>
            <a:chOff x="0" y="0"/>
            <a:chExt cx="139512" cy="10837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512" cy="1083733"/>
            </a:xfrm>
            <a:custGeom>
              <a:avLst/>
              <a:gdLst/>
              <a:ahLst/>
              <a:cxnLst/>
              <a:rect r="r" b="b" t="t" l="l"/>
              <a:pathLst>
                <a:path h="1083733" w="139512">
                  <a:moveTo>
                    <a:pt x="0" y="0"/>
                  </a:moveTo>
                  <a:lnTo>
                    <a:pt x="139512" y="0"/>
                  </a:lnTo>
                  <a:lnTo>
                    <a:pt x="139512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39512" cy="111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726262" y="1312028"/>
            <a:ext cx="6027338" cy="4247406"/>
          </a:xfrm>
          <a:custGeom>
            <a:avLst/>
            <a:gdLst/>
            <a:ahLst/>
            <a:cxnLst/>
            <a:rect r="r" b="b" t="t" l="l"/>
            <a:pathLst>
              <a:path h="4247406" w="6027338">
                <a:moveTo>
                  <a:pt x="0" y="0"/>
                </a:moveTo>
                <a:lnTo>
                  <a:pt x="6027338" y="0"/>
                </a:lnTo>
                <a:lnTo>
                  <a:pt x="6027338" y="4247406"/>
                </a:lnTo>
                <a:lnTo>
                  <a:pt x="0" y="4247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5" t="0" r="-15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6683" y="266405"/>
            <a:ext cx="7941793" cy="465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2"/>
              </a:lnSpc>
            </a:pPr>
            <a:r>
              <a:rPr lang="en-US" b="true" sz="3392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MULTI-TIER SYSTEM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6683" y="1254878"/>
            <a:ext cx="3635045" cy="371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Network Layer (VPC, Subnets)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Data Layer (RDS, S3, DynamoDB)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Application Layer (Lambda, ECS)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Security &amp; Monitoring (Config, CloudTrail, IAM)</a:t>
            </a:r>
          </a:p>
          <a:p>
            <a:pPr algn="l">
              <a:lnSpc>
                <a:spcPts val="293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-3657600" y="2258568"/>
            <a:ext cx="7315200" cy="2798064"/>
          </a:xfrm>
          <a:custGeom>
            <a:avLst/>
            <a:gdLst/>
            <a:ahLst/>
            <a:cxnLst/>
            <a:rect r="r" b="b" t="t" l="l"/>
            <a:pathLst>
              <a:path h="2798064" w="7315200">
                <a:moveTo>
                  <a:pt x="0" y="2798064"/>
                </a:moveTo>
                <a:lnTo>
                  <a:pt x="7315200" y="2798064"/>
                </a:lnTo>
                <a:lnTo>
                  <a:pt x="7315200" y="0"/>
                </a:lnTo>
                <a:lnTo>
                  <a:pt x="0" y="0"/>
                </a:lnTo>
                <a:lnTo>
                  <a:pt x="0" y="279806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5709" y="756478"/>
            <a:ext cx="7842182" cy="52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b="true" sz="38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KEY IMPLEMENTATION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54638" y="1782175"/>
            <a:ext cx="6873501" cy="4619394"/>
            <a:chOff x="0" y="0"/>
            <a:chExt cx="2744845" cy="18446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4845" cy="1844696"/>
            </a:xfrm>
            <a:custGeom>
              <a:avLst/>
              <a:gdLst/>
              <a:ahLst/>
              <a:cxnLst/>
              <a:rect r="r" b="b" t="t" l="l"/>
              <a:pathLst>
                <a:path h="1844696" w="2744845">
                  <a:moveTo>
                    <a:pt x="18021" y="0"/>
                  </a:moveTo>
                  <a:lnTo>
                    <a:pt x="2726824" y="0"/>
                  </a:lnTo>
                  <a:cubicBezTo>
                    <a:pt x="2731603" y="0"/>
                    <a:pt x="2736187" y="1899"/>
                    <a:pt x="2739567" y="5278"/>
                  </a:cubicBezTo>
                  <a:cubicBezTo>
                    <a:pt x="2742947" y="8658"/>
                    <a:pt x="2744845" y="13242"/>
                    <a:pt x="2744845" y="18021"/>
                  </a:cubicBezTo>
                  <a:lnTo>
                    <a:pt x="2744845" y="1826675"/>
                  </a:lnTo>
                  <a:cubicBezTo>
                    <a:pt x="2744845" y="1831454"/>
                    <a:pt x="2742947" y="1836038"/>
                    <a:pt x="2739567" y="1839418"/>
                  </a:cubicBezTo>
                  <a:cubicBezTo>
                    <a:pt x="2736187" y="1842798"/>
                    <a:pt x="2731603" y="1844696"/>
                    <a:pt x="2726824" y="1844696"/>
                  </a:cubicBezTo>
                  <a:lnTo>
                    <a:pt x="18021" y="1844696"/>
                  </a:lnTo>
                  <a:cubicBezTo>
                    <a:pt x="13242" y="1844696"/>
                    <a:pt x="8658" y="1842798"/>
                    <a:pt x="5278" y="1839418"/>
                  </a:cubicBezTo>
                  <a:cubicBezTo>
                    <a:pt x="1899" y="1836038"/>
                    <a:pt x="0" y="1831454"/>
                    <a:pt x="0" y="1826675"/>
                  </a:cubicBezTo>
                  <a:lnTo>
                    <a:pt x="0" y="18021"/>
                  </a:lnTo>
                  <a:cubicBezTo>
                    <a:pt x="0" y="13242"/>
                    <a:pt x="1899" y="8658"/>
                    <a:pt x="5278" y="5278"/>
                  </a:cubicBezTo>
                  <a:cubicBezTo>
                    <a:pt x="8658" y="1899"/>
                    <a:pt x="13242" y="0"/>
                    <a:pt x="180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77261" y="2076494"/>
            <a:ext cx="6525432" cy="384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232" indent="-292116" lvl="1">
              <a:lnSpc>
                <a:spcPts val="2976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CloudFormation - to deploy Infrastructure as Code</a:t>
            </a:r>
          </a:p>
          <a:p>
            <a:pPr algn="l" marL="584232" indent="-292116" lvl="1">
              <a:lnSpc>
                <a:spcPts val="2976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AWS Config - to continuously monitor 500+ resources</a:t>
            </a:r>
          </a:p>
          <a:p>
            <a:pPr algn="l" marL="584232" indent="-292116" lvl="1">
              <a:lnSpc>
                <a:spcPts val="2976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Lambda - to automate compliance checks</a:t>
            </a:r>
          </a:p>
          <a:p>
            <a:pPr algn="l" marL="584232" indent="-292116" lvl="1">
              <a:lnSpc>
                <a:spcPts val="2976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EventBridge - to trigger checks hourly </a:t>
            </a:r>
          </a:p>
          <a:p>
            <a:pPr algn="l" marL="649002" indent="-324501" lvl="1">
              <a:lnSpc>
                <a:spcPts val="3306"/>
              </a:lnSpc>
              <a:buFont typeface="Arial"/>
              <a:buChar char="•"/>
            </a:pPr>
            <a:r>
              <a:rPr lang="en-US" sz="30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CloudTrail - to log all API activity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806925" y="1605475"/>
            <a:ext cx="2052125" cy="2052125"/>
          </a:xfrm>
          <a:custGeom>
            <a:avLst/>
            <a:gdLst/>
            <a:ahLst/>
            <a:cxnLst/>
            <a:rect r="r" b="b" t="t" l="l"/>
            <a:pathLst>
              <a:path h="2052125" w="2052125">
                <a:moveTo>
                  <a:pt x="0" y="0"/>
                </a:moveTo>
                <a:lnTo>
                  <a:pt x="2052126" y="0"/>
                </a:lnTo>
                <a:lnTo>
                  <a:pt x="2052126" y="2052125"/>
                </a:lnTo>
                <a:lnTo>
                  <a:pt x="0" y="2052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91559" y="344433"/>
            <a:ext cx="1261042" cy="1261042"/>
          </a:xfrm>
          <a:custGeom>
            <a:avLst/>
            <a:gdLst/>
            <a:ahLst/>
            <a:cxnLst/>
            <a:rect r="r" b="b" t="t" l="l"/>
            <a:pathLst>
              <a:path h="1261042" w="1261042">
                <a:moveTo>
                  <a:pt x="0" y="0"/>
                </a:moveTo>
                <a:lnTo>
                  <a:pt x="1261042" y="0"/>
                </a:lnTo>
                <a:lnTo>
                  <a:pt x="1261042" y="1261042"/>
                </a:lnTo>
                <a:lnTo>
                  <a:pt x="0" y="12610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8341447" y="-731019"/>
            <a:ext cx="522390" cy="2301916"/>
            <a:chOff x="0" y="0"/>
            <a:chExt cx="193478" cy="8525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3478" cy="852562"/>
            </a:xfrm>
            <a:custGeom>
              <a:avLst/>
              <a:gdLst/>
              <a:ahLst/>
              <a:cxnLst/>
              <a:rect r="r" b="b" t="t" l="l"/>
              <a:pathLst>
                <a:path h="852562" w="193478">
                  <a:moveTo>
                    <a:pt x="0" y="0"/>
                  </a:moveTo>
                  <a:lnTo>
                    <a:pt x="193478" y="0"/>
                  </a:lnTo>
                  <a:lnTo>
                    <a:pt x="193478" y="852562"/>
                  </a:lnTo>
                  <a:lnTo>
                    <a:pt x="0" y="852562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93478" cy="881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672186" y="1222081"/>
            <a:ext cx="4982415" cy="4278406"/>
          </a:xfrm>
          <a:custGeom>
            <a:avLst/>
            <a:gdLst/>
            <a:ahLst/>
            <a:cxnLst/>
            <a:rect r="r" b="b" t="t" l="l"/>
            <a:pathLst>
              <a:path h="4278406" w="4982415">
                <a:moveTo>
                  <a:pt x="0" y="0"/>
                </a:moveTo>
                <a:lnTo>
                  <a:pt x="4982416" y="0"/>
                </a:lnTo>
                <a:lnTo>
                  <a:pt x="4982416" y="4278405"/>
                </a:lnTo>
                <a:lnTo>
                  <a:pt x="0" y="4278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6" t="0" r="-1246" b="-219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206369"/>
            <a:ext cx="7405652" cy="52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b="true" sz="380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RESULTS AND  VALIDATION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0235" y="1489344"/>
            <a:ext cx="4161951" cy="324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951" indent="-222476" lvl="1">
              <a:lnSpc>
                <a:spcPts val="2885"/>
              </a:lnSpc>
              <a:buFont typeface="Arial"/>
              <a:buChar char="•"/>
            </a:pPr>
            <a:r>
              <a:rPr lang="en-US" sz="2060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5/5 deployment phases completed</a:t>
            </a:r>
          </a:p>
          <a:p>
            <a:pPr algn="l" marL="444951" indent="-222476" lvl="1">
              <a:lnSpc>
                <a:spcPts val="2885"/>
              </a:lnSpc>
              <a:buFont typeface="Arial"/>
              <a:buChar char="•"/>
            </a:pPr>
            <a:r>
              <a:rPr lang="en-US" sz="2060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13+ AWS services deployed</a:t>
            </a:r>
          </a:p>
          <a:p>
            <a:pPr algn="l" marL="444951" indent="-222476" lvl="1">
              <a:lnSpc>
                <a:spcPts val="2885"/>
              </a:lnSpc>
              <a:buFont typeface="Arial"/>
              <a:buChar char="•"/>
            </a:pPr>
            <a:r>
              <a:rPr lang="en-US" sz="2060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22/22 tests passed </a:t>
            </a:r>
          </a:p>
          <a:p>
            <a:pPr algn="l" marL="444951" indent="-222476" lvl="1">
              <a:lnSpc>
                <a:spcPts val="2885"/>
              </a:lnSpc>
              <a:buFont typeface="Arial"/>
              <a:buChar char="•"/>
            </a:pPr>
            <a:r>
              <a:rPr lang="en-US" sz="2060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Continuous compliance monitoring enabled</a:t>
            </a:r>
          </a:p>
          <a:p>
            <a:pPr algn="l" marL="444951" indent="-222476" lvl="1">
              <a:lnSpc>
                <a:spcPts val="2885"/>
              </a:lnSpc>
              <a:buFont typeface="Arial"/>
              <a:buChar char="•"/>
            </a:pPr>
            <a:r>
              <a:rPr lang="en-US" sz="2060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Supports ISO, NIST, PCI DSS, HIPAA, GDPR, SOC 2</a:t>
            </a:r>
          </a:p>
          <a:p>
            <a:pPr algn="l">
              <a:lnSpc>
                <a:spcPts val="288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79784" y="5972400"/>
            <a:ext cx="1342800" cy="1342800"/>
          </a:xfrm>
          <a:custGeom>
            <a:avLst/>
            <a:gdLst/>
            <a:ahLst/>
            <a:cxnLst/>
            <a:rect r="r" b="b" t="t" l="l"/>
            <a:pathLst>
              <a:path h="1342800" w="1342800">
                <a:moveTo>
                  <a:pt x="0" y="0"/>
                </a:moveTo>
                <a:lnTo>
                  <a:pt x="1342801" y="0"/>
                </a:lnTo>
                <a:lnTo>
                  <a:pt x="1342801" y="1342800"/>
                </a:lnTo>
                <a:lnTo>
                  <a:pt x="0" y="1342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56551" y="3336148"/>
            <a:ext cx="1440497" cy="1440497"/>
          </a:xfrm>
          <a:custGeom>
            <a:avLst/>
            <a:gdLst/>
            <a:ahLst/>
            <a:cxnLst/>
            <a:rect r="r" b="b" t="t" l="l"/>
            <a:pathLst>
              <a:path h="1440497" w="1440497">
                <a:moveTo>
                  <a:pt x="0" y="0"/>
                </a:moveTo>
                <a:lnTo>
                  <a:pt x="1440498" y="0"/>
                </a:lnTo>
                <a:lnTo>
                  <a:pt x="1440498" y="1440498"/>
                </a:lnTo>
                <a:lnTo>
                  <a:pt x="0" y="14404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13437" y="3466453"/>
            <a:ext cx="1275495" cy="1440497"/>
          </a:xfrm>
          <a:custGeom>
            <a:avLst/>
            <a:gdLst/>
            <a:ahLst/>
            <a:cxnLst/>
            <a:rect r="r" b="b" t="t" l="l"/>
            <a:pathLst>
              <a:path h="1440497" w="1275495">
                <a:moveTo>
                  <a:pt x="0" y="0"/>
                </a:moveTo>
                <a:lnTo>
                  <a:pt x="1275495" y="0"/>
                </a:lnTo>
                <a:lnTo>
                  <a:pt x="1275495" y="1440497"/>
                </a:lnTo>
                <a:lnTo>
                  <a:pt x="0" y="1440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3384" y="1352063"/>
            <a:ext cx="6278545" cy="116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0"/>
              </a:lnSpc>
            </a:pPr>
            <a:r>
              <a:rPr lang="en-US" b="true" sz="2950">
                <a:solidFill>
                  <a:srgbClr val="4595C2"/>
                </a:solidFill>
                <a:latin typeface="Raleway Bold"/>
                <a:ea typeface="Raleway Bold"/>
                <a:cs typeface="Raleway Bold"/>
                <a:sym typeface="Raleway Bold"/>
              </a:rPr>
              <a:t>CHALLENGE AND CONCLUSION</a:t>
            </a:r>
          </a:p>
          <a:p>
            <a:pPr algn="ctr">
              <a:lnSpc>
                <a:spcPts val="2950"/>
              </a:lnSpc>
            </a:pPr>
          </a:p>
          <a:p>
            <a:pPr algn="ctr">
              <a:lnSpc>
                <a:spcPts val="295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7633803" y="-901875"/>
            <a:ext cx="490773" cy="2294523"/>
            <a:chOff x="0" y="0"/>
            <a:chExt cx="181768" cy="8498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768" cy="849823"/>
            </a:xfrm>
            <a:custGeom>
              <a:avLst/>
              <a:gdLst/>
              <a:ahLst/>
              <a:cxnLst/>
              <a:rect r="r" b="b" t="t" l="l"/>
              <a:pathLst>
                <a:path h="849823" w="181768">
                  <a:moveTo>
                    <a:pt x="0" y="0"/>
                  </a:moveTo>
                  <a:lnTo>
                    <a:pt x="181768" y="0"/>
                  </a:lnTo>
                  <a:lnTo>
                    <a:pt x="181768" y="849823"/>
                  </a:lnTo>
                  <a:lnTo>
                    <a:pt x="0" y="849823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768" cy="87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09294" y="2126612"/>
            <a:ext cx="3601533" cy="23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4595C2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</a:t>
            </a:r>
          </a:p>
          <a:p>
            <a:pPr algn="l" marL="466540" indent="-233270" lvl="1">
              <a:lnSpc>
                <a:spcPts val="3025"/>
              </a:lnSpc>
              <a:buFont typeface="Arial"/>
              <a:buChar char="•"/>
            </a:pPr>
            <a:r>
              <a:rPr lang="en-US" sz="2160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RDS was deployed in private subnet no external access</a:t>
            </a:r>
          </a:p>
          <a:p>
            <a:pPr algn="l">
              <a:lnSpc>
                <a:spcPts val="3025"/>
              </a:lnSpc>
            </a:pPr>
          </a:p>
          <a:p>
            <a:pPr algn="l">
              <a:lnSpc>
                <a:spcPts val="302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749333" y="2144392"/>
            <a:ext cx="3601533" cy="158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4595C2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  <a:p>
            <a:pPr algn="l" marL="466540" indent="-233270" lvl="1">
              <a:lnSpc>
                <a:spcPts val="3025"/>
              </a:lnSpc>
              <a:buFont typeface="Arial"/>
              <a:buChar char="•"/>
            </a:pPr>
            <a:r>
              <a:rPr lang="en-US" sz="2160" u="sng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Used Lambda inside VPC to load data securely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76034" y="4078414"/>
            <a:ext cx="3601533" cy="2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4595C2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  <a:p>
            <a:pPr algn="l" marL="466540" indent="-233270" lvl="1">
              <a:lnSpc>
                <a:spcPts val="3025"/>
              </a:lnSpc>
              <a:buFont typeface="Arial"/>
              <a:buChar char="•"/>
            </a:pPr>
            <a:r>
              <a:rPr lang="en-US" sz="2160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Built a fully automated GRC system</a:t>
            </a:r>
          </a:p>
          <a:p>
            <a:pPr algn="l" marL="466540" indent="-233270" lvl="1">
              <a:lnSpc>
                <a:spcPts val="3025"/>
              </a:lnSpc>
              <a:buFont typeface="Arial"/>
              <a:buChar char="•"/>
            </a:pPr>
            <a:r>
              <a:rPr lang="en-US" sz="2160">
                <a:solidFill>
                  <a:srgbClr val="4595C2"/>
                </a:solidFill>
                <a:latin typeface="Poppins"/>
                <a:ea typeface="Poppins"/>
                <a:cs typeface="Poppins"/>
                <a:sym typeface="Poppins"/>
              </a:rPr>
              <a:t>Improved real-time compliance and visibility</a:t>
            </a:r>
          </a:p>
          <a:p>
            <a:pPr algn="l">
              <a:lnSpc>
                <a:spcPts val="302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191" t="-658" r="-8509" b="-589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520" y="904984"/>
            <a:ext cx="2052125" cy="2052125"/>
          </a:xfrm>
          <a:custGeom>
            <a:avLst/>
            <a:gdLst/>
            <a:ahLst/>
            <a:cxnLst/>
            <a:rect r="r" b="b" t="t" l="l"/>
            <a:pathLst>
              <a:path h="2052125" w="2052125">
                <a:moveTo>
                  <a:pt x="0" y="0"/>
                </a:moveTo>
                <a:lnTo>
                  <a:pt x="2052125" y="0"/>
                </a:lnTo>
                <a:lnTo>
                  <a:pt x="2052125" y="2052126"/>
                </a:lnTo>
                <a:lnTo>
                  <a:pt x="0" y="2052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7841" y="5081848"/>
            <a:ext cx="1196044" cy="1196044"/>
          </a:xfrm>
          <a:custGeom>
            <a:avLst/>
            <a:gdLst/>
            <a:ahLst/>
            <a:cxnLst/>
            <a:rect r="r" b="b" t="t" l="l"/>
            <a:pathLst>
              <a:path h="1196044" w="1196044">
                <a:moveTo>
                  <a:pt x="0" y="0"/>
                </a:moveTo>
                <a:lnTo>
                  <a:pt x="1196044" y="0"/>
                </a:lnTo>
                <a:lnTo>
                  <a:pt x="1196044" y="1196044"/>
                </a:lnTo>
                <a:lnTo>
                  <a:pt x="0" y="11960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7281443">
            <a:off x="-4816785" y="3896341"/>
            <a:ext cx="8703931" cy="5374678"/>
          </a:xfrm>
          <a:custGeom>
            <a:avLst/>
            <a:gdLst/>
            <a:ahLst/>
            <a:cxnLst/>
            <a:rect r="r" b="b" t="t" l="l"/>
            <a:pathLst>
              <a:path h="5374678" w="8703931">
                <a:moveTo>
                  <a:pt x="0" y="5374678"/>
                </a:moveTo>
                <a:lnTo>
                  <a:pt x="8703931" y="5374678"/>
                </a:lnTo>
                <a:lnTo>
                  <a:pt x="8703931" y="0"/>
                </a:lnTo>
                <a:lnTo>
                  <a:pt x="0" y="0"/>
                </a:lnTo>
                <a:lnTo>
                  <a:pt x="0" y="5374678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34924" y="1453120"/>
            <a:ext cx="6483752" cy="4408961"/>
            <a:chOff x="0" y="0"/>
            <a:chExt cx="1415322" cy="9624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5322" cy="962421"/>
            </a:xfrm>
            <a:custGeom>
              <a:avLst/>
              <a:gdLst/>
              <a:ahLst/>
              <a:cxnLst/>
              <a:rect r="r" b="b" t="t" l="l"/>
              <a:pathLst>
                <a:path h="962421" w="1415322">
                  <a:moveTo>
                    <a:pt x="19105" y="0"/>
                  </a:moveTo>
                  <a:lnTo>
                    <a:pt x="1396217" y="0"/>
                  </a:lnTo>
                  <a:cubicBezTo>
                    <a:pt x="1406768" y="0"/>
                    <a:pt x="1415322" y="8554"/>
                    <a:pt x="1415322" y="19105"/>
                  </a:cubicBezTo>
                  <a:lnTo>
                    <a:pt x="1415322" y="943316"/>
                  </a:lnTo>
                  <a:cubicBezTo>
                    <a:pt x="1415322" y="948383"/>
                    <a:pt x="1413309" y="953242"/>
                    <a:pt x="1409726" y="956825"/>
                  </a:cubicBezTo>
                  <a:cubicBezTo>
                    <a:pt x="1406143" y="960408"/>
                    <a:pt x="1401284" y="962421"/>
                    <a:pt x="1396217" y="962421"/>
                  </a:cubicBezTo>
                  <a:lnTo>
                    <a:pt x="19105" y="962421"/>
                  </a:lnTo>
                  <a:cubicBezTo>
                    <a:pt x="8554" y="962421"/>
                    <a:pt x="0" y="953867"/>
                    <a:pt x="0" y="943316"/>
                  </a:cubicBezTo>
                  <a:lnTo>
                    <a:pt x="0" y="19105"/>
                  </a:lnTo>
                  <a:cubicBezTo>
                    <a:pt x="0" y="8554"/>
                    <a:pt x="8554" y="0"/>
                    <a:pt x="191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C5E6">
                    <a:alpha val="100000"/>
                  </a:srgbClr>
                </a:gs>
                <a:gs pos="100000">
                  <a:srgbClr val="006AAD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24981" y="2147559"/>
            <a:ext cx="550363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83645" y="3148543"/>
            <a:ext cx="3881461" cy="1894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8"/>
              </a:lnSpc>
            </a:pPr>
            <a:r>
              <a:rPr lang="en-US" sz="21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learning opportunity significantly strengthened my understanding of compliance automation and cloud security.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-7281443">
            <a:off x="5401634" y="-1218391"/>
            <a:ext cx="8703931" cy="5374678"/>
          </a:xfrm>
          <a:custGeom>
            <a:avLst/>
            <a:gdLst/>
            <a:ahLst/>
            <a:cxnLst/>
            <a:rect r="r" b="b" t="t" l="l"/>
            <a:pathLst>
              <a:path h="5374678" w="8703931">
                <a:moveTo>
                  <a:pt x="8703932" y="0"/>
                </a:moveTo>
                <a:lnTo>
                  <a:pt x="0" y="0"/>
                </a:lnTo>
                <a:lnTo>
                  <a:pt x="0" y="5374678"/>
                </a:lnTo>
                <a:lnTo>
                  <a:pt x="8703932" y="5374678"/>
                </a:lnTo>
                <a:lnTo>
                  <a:pt x="870393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5400000">
            <a:off x="6785420" y="5916479"/>
            <a:ext cx="502920" cy="2294523"/>
            <a:chOff x="0" y="0"/>
            <a:chExt cx="186267" cy="8498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267" cy="849823"/>
            </a:xfrm>
            <a:custGeom>
              <a:avLst/>
              <a:gdLst/>
              <a:ahLst/>
              <a:cxnLst/>
              <a:rect r="r" b="b" t="t" l="l"/>
              <a:pathLst>
                <a:path h="849823" w="186267">
                  <a:moveTo>
                    <a:pt x="0" y="0"/>
                  </a:moveTo>
                  <a:lnTo>
                    <a:pt x="186267" y="0"/>
                  </a:lnTo>
                  <a:lnTo>
                    <a:pt x="186267" y="849823"/>
                  </a:lnTo>
                  <a:lnTo>
                    <a:pt x="0" y="849823"/>
                  </a:lnTo>
                  <a:close/>
                </a:path>
              </a:pathLst>
            </a:custGeom>
            <a:solidFill>
              <a:srgbClr val="4595C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6267" cy="878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DAHHg3JEvdk</dc:identifier>
  <dcterms:modified xsi:type="dcterms:W3CDTF">2011-08-01T06:04:30Z</dcterms:modified>
  <cp:revision>1</cp:revision>
  <dc:title>White Blue Professional Business Report Presentation</dc:title>
</cp:coreProperties>
</file>